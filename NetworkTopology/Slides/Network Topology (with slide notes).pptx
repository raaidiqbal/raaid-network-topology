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Robo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E3C6816-DE7A-410B-9BBA-1A56852DDA8F}">
  <a:tblStyle styleId="{0E3C6816-DE7A-410B-9BBA-1A56852DDA8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2FFD4DDF-865B-4A62-8317-4967405F5A2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Roboto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Roboto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obot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9e470d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9e47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9ae8126c3d_0_10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9ae8126c3d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ae8126c3d_0_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9ae8126c3d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c6f9e470d_0_4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c6f9e470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Most time spent: HE on the routes to LUMS (Pakistan), and University of Queensland (Australia). Also on Telefonic Solutions. This makes sense since intercontinental. Also reveals they are poorly connected</a:t>
            </a:r>
            <a:r>
              <a:rPr lang="en"/>
              <a:t>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Connection: Carleton is directly connected to Northern Lights (Minnesota area) and Hurricane electric (Tier 2), as all traceroutes went through them.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Northern lights handles regional transfer, and HE handles intercontinental.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Connectedness: America is the best connected (&lt;10 ms), Europe is strong (about 150 ms), Asia is weak (about 250 ms), Oceania is moderate (about 220 ms), and South America is strong (about 150 ms)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tier 1 providers, connections stay local, </a:t>
            </a:r>
            <a:r>
              <a:rPr lang="en"/>
              <a:t>don't</a:t>
            </a:r>
            <a:r>
              <a:rPr lang="en"/>
              <a:t> have to route </a:t>
            </a:r>
            <a:r>
              <a:rPr lang="en"/>
              <a:t>through</a:t>
            </a:r>
            <a:r>
              <a:rPr lang="en"/>
              <a:t> lot of places.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Overseas</a:t>
            </a:r>
            <a:r>
              <a:rPr lang="en"/>
              <a:t> connections: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HE from tokyo to singapore to lahore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Pacifica wave from </a:t>
            </a:r>
            <a:r>
              <a:rPr lang="en"/>
              <a:t>seattle</a:t>
            </a:r>
            <a:r>
              <a:rPr lang="en"/>
              <a:t> to </a:t>
            </a:r>
            <a:r>
              <a:rPr lang="en"/>
              <a:t>perth</a:t>
            </a:r>
            <a:r>
              <a:rPr lang="en"/>
              <a:t> australia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HE from kansas city to madrid, then Telefonic from Madrid to Sao Paulo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HE from Minneapolis to London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About 2 private IPs for each route, except for Australia and England.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c6f9e470d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c6f9e470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The </a:t>
            </a:r>
            <a:r>
              <a:rPr lang="en"/>
              <a:t>most time being spent on HE and Telefonic </a:t>
            </a:r>
            <a:r>
              <a:rPr lang="en"/>
              <a:t>makes sense since they provide intercontinental connectivity. The reliance on these also reveals how Pakistan, Brazil and Australia are not that well connected since these were the only major providers </a:t>
            </a:r>
            <a:r>
              <a:rPr lang="en"/>
              <a:t>involved.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Overall, Northern lights handles regional transfer, and HE handles intercontinental.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ae8126c3d_0_9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9ae8126c3d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-"/>
            </a:pPr>
            <a:r>
              <a:rPr lang="en"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In terms of connectedness, America is the best connected (&lt;10 ms)</a:t>
            </a:r>
            <a:endParaRPr sz="12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-"/>
            </a:pPr>
            <a:r>
              <a:rPr lang="en"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Europe is strong (about 150 ms)</a:t>
            </a:r>
            <a:endParaRPr sz="12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-"/>
            </a:pPr>
            <a:r>
              <a:rPr lang="en"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South America is strong (about 150 ms)</a:t>
            </a:r>
            <a:endParaRPr sz="12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-"/>
            </a:pPr>
            <a:r>
              <a:rPr lang="en"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Oceania is moderate (about 220 ms)</a:t>
            </a:r>
            <a:endParaRPr sz="12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-"/>
            </a:pPr>
            <a:r>
              <a:rPr lang="en"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Asia is weak (about 250 ms)</a:t>
            </a:r>
            <a:endParaRPr sz="12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9ae8126c3d_0_5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9ae8126c3d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RTT makes sense as it approximately corresponds to distance: </a:t>
            </a:r>
            <a:r>
              <a:rPr lang="en"/>
              <a:t>destinations</a:t>
            </a:r>
            <a:r>
              <a:rPr lang="en"/>
              <a:t> further away, such as Asia, took way longer than regional ones.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ae8126c3d_0_2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9ae8126c3d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8e8458d93_0_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8e8458d9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-"/>
            </a:pPr>
            <a:r>
              <a:rPr lang="en"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Since RIPE measures local connectivity, the times are much lower</a:t>
            </a:r>
            <a:endParaRPr sz="12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-"/>
            </a:pPr>
            <a:r>
              <a:rPr lang="en"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Traceroutes go from Carleton to London, whereas RIPE just goes from London to, for example, Google, which likely has a local server.</a:t>
            </a:r>
            <a:endParaRPr sz="12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-"/>
            </a:pPr>
            <a:r>
              <a:rPr lang="en"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Times for RIPE and ping within the US are similar, since local connectivity is strong.</a:t>
            </a:r>
            <a:endParaRPr sz="12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-"/>
            </a:pPr>
            <a:r>
              <a:rPr lang="en"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Intercontinental travel adds a lot of latency.</a:t>
            </a:r>
            <a:endParaRPr sz="12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-"/>
            </a:pPr>
            <a:r>
              <a:rPr lang="en"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Traceroutes show true latency end-to-end</a:t>
            </a:r>
            <a:endParaRPr sz="12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-"/>
            </a:pPr>
            <a:r>
              <a:rPr lang="en"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RIPE shows latency for local internet services</a:t>
            </a:r>
            <a:endParaRPr sz="12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ae8126c3d_0_9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9ae8126c3d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9ae8126c3d_0_11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9ae8126c3d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Mapping Carleton’s Network Topology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Analyzing how Carleton is connected to the rest of the internet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371775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this Matters</a:t>
            </a:r>
            <a:endParaRPr/>
          </a:p>
        </p:txBody>
      </p:sp>
      <p:sp>
        <p:nvSpPr>
          <p:cNvPr id="92" name="Google Shape;92;p14"/>
          <p:cNvSpPr txBox="1"/>
          <p:nvPr>
            <p:ph idx="4294967295" type="body"/>
          </p:nvPr>
        </p:nvSpPr>
        <p:spPr>
          <a:xfrm>
            <a:off x="506425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Company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93" name="Google Shape;93;p14"/>
          <p:cNvGrpSpPr/>
          <p:nvPr/>
        </p:nvGrpSpPr>
        <p:grpSpPr>
          <a:xfrm>
            <a:off x="371765" y="1158806"/>
            <a:ext cx="8400467" cy="3548615"/>
            <a:chOff x="431925" y="1304875"/>
            <a:chExt cx="2628925" cy="3416400"/>
          </a:xfrm>
        </p:grpSpPr>
        <p:sp>
          <p:nvSpPr>
            <p:cNvPr id="94" name="Google Shape;94;p14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4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" name="Google Shape;96;p14"/>
          <p:cNvSpPr txBox="1"/>
          <p:nvPr/>
        </p:nvSpPr>
        <p:spPr>
          <a:xfrm>
            <a:off x="477000" y="1641075"/>
            <a:ext cx="8190000" cy="28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Char char="-"/>
            </a:pP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Traceroutes reveals the </a:t>
            </a:r>
            <a:r>
              <a:rPr b="1"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path</a:t>
            </a: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data takes through numerous networks to reach its destination. </a:t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Char char="-"/>
            </a:pP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It also reveals </a:t>
            </a:r>
            <a:r>
              <a:rPr b="1"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how long</a:t>
            </a: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this process takes, and what wide area networks are involved.</a:t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Char char="-"/>
            </a:pP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We can observe where data spends the </a:t>
            </a:r>
            <a:r>
              <a:rPr b="1"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most time</a:t>
            </a: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in regional and intercontinental travel.</a:t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Char char="-"/>
            </a:pP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We can also learn what </a:t>
            </a:r>
            <a:r>
              <a:rPr b="1"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WANs and ISPs</a:t>
            </a: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are involved in forwarding and handing off the data.</a:t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title"/>
          </p:nvPr>
        </p:nvSpPr>
        <p:spPr>
          <a:xfrm>
            <a:off x="371775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102" name="Google Shape;102;p15"/>
          <p:cNvSpPr txBox="1"/>
          <p:nvPr>
            <p:ph idx="4294967295" type="body"/>
          </p:nvPr>
        </p:nvSpPr>
        <p:spPr>
          <a:xfrm>
            <a:off x="506425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Company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103" name="Google Shape;103;p15"/>
          <p:cNvGrpSpPr/>
          <p:nvPr/>
        </p:nvGrpSpPr>
        <p:grpSpPr>
          <a:xfrm>
            <a:off x="371778" y="1158821"/>
            <a:ext cx="8400467" cy="3660331"/>
            <a:chOff x="431925" y="1304875"/>
            <a:chExt cx="2628925" cy="3416400"/>
          </a:xfrm>
        </p:grpSpPr>
        <p:sp>
          <p:nvSpPr>
            <p:cNvPr id="104" name="Google Shape;104;p15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5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6" name="Google Shape;106;p15"/>
          <p:cNvSpPr txBox="1"/>
          <p:nvPr/>
        </p:nvSpPr>
        <p:spPr>
          <a:xfrm>
            <a:off x="477000" y="1703675"/>
            <a:ext cx="8190000" cy="28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Used RIPE probes, and </a:t>
            </a:r>
            <a:r>
              <a:rPr lang="en" sz="1700">
                <a:solidFill>
                  <a:srgbClr val="E83E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tracert </a:t>
            </a:r>
            <a:r>
              <a:rPr lang="en" sz="1700">
                <a:solidFill>
                  <a:schemeClr val="dk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and</a:t>
            </a:r>
            <a:r>
              <a:rPr lang="en" sz="1700">
                <a:solidFill>
                  <a:srgbClr val="E83E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ping </a:t>
            </a: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command to  reach the following locations</a:t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Char char="-"/>
            </a:pP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Lahore University of Management Sciences, </a:t>
            </a:r>
            <a:r>
              <a:rPr b="1"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Lahore, Pakistan</a:t>
            </a:r>
            <a:endParaRPr b="1"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Char char="-"/>
            </a:pP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London School of Economics, </a:t>
            </a:r>
            <a:r>
              <a:rPr b="1"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London, England</a:t>
            </a:r>
            <a:endParaRPr b="1"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Char char="-"/>
            </a:pP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University of Queensland, Brisbane, </a:t>
            </a:r>
            <a:r>
              <a:rPr b="1"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Queensland, Australia</a:t>
            </a:r>
            <a:endParaRPr b="1"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Char char="-"/>
            </a:pP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University of California, </a:t>
            </a:r>
            <a:r>
              <a:rPr b="1"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Santa Cruz, California, United States</a:t>
            </a:r>
            <a:endParaRPr b="1"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Char char="-"/>
            </a:pP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University of São Paulo, </a:t>
            </a:r>
            <a:r>
              <a:rPr b="1"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São Paulo, Brazil</a:t>
            </a:r>
            <a:endParaRPr b="1"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Char char="-"/>
            </a:pP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Microsoft Corporation, </a:t>
            </a:r>
            <a:r>
              <a:rPr b="1"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United States</a:t>
            </a:r>
            <a:endParaRPr b="1"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/>
          <p:nvPr>
            <p:ph type="title"/>
          </p:nvPr>
        </p:nvSpPr>
        <p:spPr>
          <a:xfrm>
            <a:off x="2544450" y="198225"/>
            <a:ext cx="4055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Topology</a:t>
            </a:r>
            <a:endParaRPr/>
          </a:p>
        </p:txBody>
      </p:sp>
      <p:pic>
        <p:nvPicPr>
          <p:cNvPr id="112" name="Google Shape;11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575" y="1353197"/>
            <a:ext cx="8490849" cy="348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/>
          <p:nvPr>
            <p:ph type="title"/>
          </p:nvPr>
        </p:nvSpPr>
        <p:spPr>
          <a:xfrm>
            <a:off x="371775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Observations</a:t>
            </a:r>
            <a:endParaRPr/>
          </a:p>
        </p:txBody>
      </p:sp>
      <p:sp>
        <p:nvSpPr>
          <p:cNvPr id="118" name="Google Shape;118;p17"/>
          <p:cNvSpPr txBox="1"/>
          <p:nvPr>
            <p:ph idx="4294967295" type="body"/>
          </p:nvPr>
        </p:nvSpPr>
        <p:spPr>
          <a:xfrm>
            <a:off x="506425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Company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119" name="Google Shape;119;p17"/>
          <p:cNvGrpSpPr/>
          <p:nvPr/>
        </p:nvGrpSpPr>
        <p:grpSpPr>
          <a:xfrm>
            <a:off x="371765" y="1211006"/>
            <a:ext cx="8400467" cy="3580046"/>
            <a:chOff x="431925" y="1304875"/>
            <a:chExt cx="2628925" cy="3416400"/>
          </a:xfrm>
        </p:grpSpPr>
        <p:sp>
          <p:nvSpPr>
            <p:cNvPr id="120" name="Google Shape;120;p17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7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" name="Google Shape;122;p17"/>
          <p:cNvSpPr txBox="1"/>
          <p:nvPr/>
        </p:nvSpPr>
        <p:spPr>
          <a:xfrm>
            <a:off x="477000" y="1712525"/>
            <a:ext cx="8190000" cy="13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Char char="-"/>
            </a:pPr>
            <a:r>
              <a:rPr b="1"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Most time spent</a:t>
            </a: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Char char="-"/>
            </a:pP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HE on the routes to Pakistan, and Australia</a:t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Char char="-"/>
            </a:pP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Telefonic Solutions to Brazil</a:t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Char char="-"/>
            </a:pP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Reveals they are poorly connected</a:t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Char char="-"/>
            </a:pPr>
            <a:r>
              <a:rPr b="1"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Connection</a:t>
            </a: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: Carleton is directly connected to Northern Lights (Minnesota area) and Hurricane electric (Tier 1), as all traceroutes went through them.</a:t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Char char="-"/>
            </a:pP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HE provides </a:t>
            </a: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intercontinental</a:t>
            </a: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transfer</a:t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Char char="-"/>
            </a:pP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NL provides regional transfer</a:t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/>
          <p:nvPr>
            <p:ph type="title"/>
          </p:nvPr>
        </p:nvSpPr>
        <p:spPr>
          <a:xfrm>
            <a:off x="2075400" y="0"/>
            <a:ext cx="4993200" cy="79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Ping and Traceroute</a:t>
            </a:r>
            <a:endParaRPr/>
          </a:p>
        </p:txBody>
      </p:sp>
      <p:pic>
        <p:nvPicPr>
          <p:cNvPr id="128" name="Google Shape;128;p18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025" y="838800"/>
            <a:ext cx="8387933" cy="3999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"/>
          <p:cNvSpPr txBox="1"/>
          <p:nvPr>
            <p:ph idx="4294967295" type="body"/>
          </p:nvPr>
        </p:nvSpPr>
        <p:spPr>
          <a:xfrm>
            <a:off x="506425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Company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4" name="Google Shape;134;p19"/>
          <p:cNvSpPr txBox="1"/>
          <p:nvPr/>
        </p:nvSpPr>
        <p:spPr>
          <a:xfrm>
            <a:off x="2186300" y="258150"/>
            <a:ext cx="4861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Route Trip Times and Pings</a:t>
            </a:r>
            <a:endParaRPr sz="3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35" name="Google Shape;135;p19"/>
          <p:cNvGraphicFramePr/>
          <p:nvPr/>
        </p:nvGraphicFramePr>
        <p:xfrm>
          <a:off x="693938" y="1216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{0E3C6816-DE7A-410B-9BBA-1A56852DDA8F}</a:tableStyleId>
              </a:tblPr>
              <a:tblGrid>
                <a:gridCol w="3073325"/>
                <a:gridCol w="1334475"/>
                <a:gridCol w="1431525"/>
                <a:gridCol w="1916800"/>
              </a:tblGrid>
              <a:tr h="388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Avg Ping RTT (ms)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Min / Max RTT (ms)</a:t>
                      </a:r>
                      <a:endParaRPr b="1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Traceroute Final RTT (ms)</a:t>
                      </a:r>
                      <a:endParaRPr b="1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2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Microsoft (Minneapolis, MN, USA)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6/7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University of California, Santa Cruz (Santa Cruz, CA, USA)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6/14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2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London School of Economics (London, UK)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100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100/101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101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2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University of São Paulo (São Paulo, Brazil)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No Response</a:t>
                      </a:r>
                      <a:endParaRPr b="1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151/152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152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University of Queensland (Brisbane, Queensland, Australia)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232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226/228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227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Lahore University of Management Sciences (Lahore, Pakistan)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284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271/278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278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/>
          <p:nvPr>
            <p:ph idx="4294967295" type="body"/>
          </p:nvPr>
        </p:nvSpPr>
        <p:spPr>
          <a:xfrm>
            <a:off x="506425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Company</a:t>
            </a:r>
            <a:endParaRPr>
              <a:solidFill>
                <a:schemeClr val="lt1"/>
              </a:solidFill>
            </a:endParaRPr>
          </a:p>
        </p:txBody>
      </p:sp>
      <p:graphicFrame>
        <p:nvGraphicFramePr>
          <p:cNvPr id="141" name="Google Shape;141;p20"/>
          <p:cNvGraphicFramePr/>
          <p:nvPr/>
        </p:nvGraphicFramePr>
        <p:xfrm>
          <a:off x="552600" y="735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{2FFD4DDF-865B-4A62-8317-4967405F5A25}</a:tableStyleId>
              </a:tblPr>
              <a:tblGrid>
                <a:gridCol w="3252325"/>
                <a:gridCol w="1231925"/>
                <a:gridCol w="1073150"/>
                <a:gridCol w="1240700"/>
                <a:gridCol w="1240700"/>
              </a:tblGrid>
              <a:tr h="581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Google (ms)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Wikipedia (ms)</a:t>
                      </a:r>
                      <a:endParaRPr b="1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Facebook (ms)</a:t>
                      </a:r>
                      <a:endParaRPr b="1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Average (ms)</a:t>
                      </a:r>
                      <a:endParaRPr b="1"/>
                    </a:p>
                  </a:txBody>
                  <a:tcPr marT="19050" marB="19050" marR="91425" marL="9142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6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University of California, Santa Cruz (Santa Cruz, CA, USA)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3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London School of Economics (London, UK)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23</a:t>
                      </a:r>
                      <a:endParaRPr b="1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15</a:t>
                      </a:r>
                      <a:endParaRPr b="1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Microsoft / Akamai Edge (Minneapolis, MN, USA)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48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27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27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3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University of São Paulo (São Paulo, Brazil)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111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130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109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116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3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Lahore University of Management Sciences (Lahore, Pakistan)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326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99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32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152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3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University of Queensland (Brisbane, Queensland, Australia)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165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202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180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182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2" name="Google Shape;142;p20"/>
          <p:cNvSpPr txBox="1"/>
          <p:nvPr/>
        </p:nvSpPr>
        <p:spPr>
          <a:xfrm>
            <a:off x="3466050" y="0"/>
            <a:ext cx="2211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RIPE Times</a:t>
            </a:r>
            <a:endParaRPr sz="3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/>
          <p:nvPr>
            <p:ph type="title"/>
          </p:nvPr>
        </p:nvSpPr>
        <p:spPr>
          <a:xfrm>
            <a:off x="2964763" y="-108300"/>
            <a:ext cx="3214500" cy="79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Comparison</a:t>
            </a:r>
            <a:endParaRPr sz="4000"/>
          </a:p>
        </p:txBody>
      </p:sp>
      <p:pic>
        <p:nvPicPr>
          <p:cNvPr id="148" name="Google Shape;148;p21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1987" y="688500"/>
            <a:ext cx="6280023" cy="3883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/>
          <p:cNvSpPr txBox="1"/>
          <p:nvPr>
            <p:ph type="title"/>
          </p:nvPr>
        </p:nvSpPr>
        <p:spPr>
          <a:xfrm>
            <a:off x="371775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Explanation</a:t>
            </a:r>
            <a:endParaRPr/>
          </a:p>
        </p:txBody>
      </p:sp>
      <p:sp>
        <p:nvSpPr>
          <p:cNvPr id="154" name="Google Shape;154;p22"/>
          <p:cNvSpPr txBox="1"/>
          <p:nvPr>
            <p:ph idx="4294967295" type="body"/>
          </p:nvPr>
        </p:nvSpPr>
        <p:spPr>
          <a:xfrm>
            <a:off x="506425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Company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155" name="Google Shape;155;p22"/>
          <p:cNvGrpSpPr/>
          <p:nvPr/>
        </p:nvGrpSpPr>
        <p:grpSpPr>
          <a:xfrm>
            <a:off x="371765" y="1158806"/>
            <a:ext cx="8400467" cy="3548615"/>
            <a:chOff x="431925" y="1304875"/>
            <a:chExt cx="2628925" cy="3416400"/>
          </a:xfrm>
        </p:grpSpPr>
        <p:sp>
          <p:nvSpPr>
            <p:cNvPr id="156" name="Google Shape;156;p22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22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8" name="Google Shape;158;p22"/>
          <p:cNvSpPr txBox="1"/>
          <p:nvPr/>
        </p:nvSpPr>
        <p:spPr>
          <a:xfrm>
            <a:off x="477000" y="1703675"/>
            <a:ext cx="8190000" cy="28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-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RIPE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measures local connectivity, the times are much lower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-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Traceroutes go from Carleton to London, whereas RIPE just goes from London to, for example, Google, which likely has a local server.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-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Traceroutes show true latency end-to-end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-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RIPE shows latency for local internet services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3"/>
          <p:cNvSpPr txBox="1"/>
          <p:nvPr>
            <p:ph type="title"/>
          </p:nvPr>
        </p:nvSpPr>
        <p:spPr>
          <a:xfrm>
            <a:off x="371775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Drawbacks and Conclusion</a:t>
            </a:r>
            <a:endParaRPr/>
          </a:p>
        </p:txBody>
      </p:sp>
      <p:sp>
        <p:nvSpPr>
          <p:cNvPr id="164" name="Google Shape;164;p23"/>
          <p:cNvSpPr txBox="1"/>
          <p:nvPr>
            <p:ph idx="4294967295" type="body"/>
          </p:nvPr>
        </p:nvSpPr>
        <p:spPr>
          <a:xfrm>
            <a:off x="506425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Company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165" name="Google Shape;165;p23"/>
          <p:cNvGrpSpPr/>
          <p:nvPr/>
        </p:nvGrpSpPr>
        <p:grpSpPr>
          <a:xfrm>
            <a:off x="371765" y="1158806"/>
            <a:ext cx="8400467" cy="3548615"/>
            <a:chOff x="431925" y="1304875"/>
            <a:chExt cx="2628925" cy="3416400"/>
          </a:xfrm>
        </p:grpSpPr>
        <p:sp>
          <p:nvSpPr>
            <p:cNvPr id="166" name="Google Shape;166;p23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23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8" name="Google Shape;168;p23"/>
          <p:cNvSpPr txBox="1"/>
          <p:nvPr/>
        </p:nvSpPr>
        <p:spPr>
          <a:xfrm>
            <a:off x="477000" y="1703675"/>
            <a:ext cx="8190000" cy="28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-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Numerous request timed outs.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-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Private IPs (10.x.x.x)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-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ICMPs are lowest priority so blocked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-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Only get traces from responsive routers.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Overall, HE is the backbone of connections (especially intercontinental)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Latency also degrades internationally, and RIPE is not completely representative.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